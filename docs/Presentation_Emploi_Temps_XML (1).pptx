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bchwX9uwVg/j2UTcd94A0OpYT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BD0D79-EFFF-45DF-963F-5350480A860B}">
  <a:tblStyle styleId="{72BD0D79-EFFF-45DF-963F-5350480A860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265034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GESTION DE L'EMPLOI DU TEMPS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106956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Étude comparative XML, JSON, YAML et application XML/PHP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726100" y="2817396"/>
            <a:ext cx="6083100" cy="607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Projet académique – Technologies XML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610797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Présenté par 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Abdoulaye Guene  •  Aissatou Billy Sall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480168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Année académique 2024–2025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OBJECTIFS DU PROJET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48640" y="1188720"/>
            <a:ext cx="3840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417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1463040" y="14173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Comprendre et comparer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463040" y="187452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XML, JSON et YAML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846320" y="1188720"/>
            <a:ext cx="3840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640" y="1417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5760720" y="14173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Maîtriser les concepts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760720" y="187452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XML, DTD et XSD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3108960"/>
            <a:ext cx="3840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" y="33375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1463040" y="3337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Développer une application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463040" y="37947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PHP fonctionnelle et structurée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846320" y="3108960"/>
            <a:ext cx="3840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0640" y="33375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5760720" y="3337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Séparation des responsabilités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760720" y="37947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Données / Validation / Logique / Présentation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CHAPITRE I : XML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XML (eXtensible Markup Language)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914400" y="1920250"/>
            <a:ext cx="14103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DÉFINITION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658750" y="1737350"/>
            <a:ext cx="4489200" cy="12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Langage de balisage structuré et extensible</a:t>
            </a:r>
            <a:b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Lisible par l'humain ET interprétable par la machine</a:t>
            </a:r>
            <a:b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Standard pour l'échange et le stockage de données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914400" y="3187450"/>
            <a:ext cx="31017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AVANTAGES CLÉS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2784025" y="3105850"/>
            <a:ext cx="4906800" cy="12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✓ Structure hiérarchique claire et logique</a:t>
            </a:r>
            <a:b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✓ Validation stricte possible (DTD, XSD)</a:t>
            </a:r>
            <a:b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✓ Standard robuste et universel</a:t>
            </a:r>
            <a:b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✓ Auto-descriptif et extensible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CHAPITRE II : JSON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914400" y="1260239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JSON (JavaScript Object Notation)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914400" y="1703874"/>
            <a:ext cx="73152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CARACTÉRISTIQUES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914400" y="2258160"/>
            <a:ext cx="7132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Format léger basé sur des paires clé/valeur</a:t>
            </a:r>
            <a:b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Standard des APIs REST modernes</a:t>
            </a:r>
            <a:b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Syntaxe minimaliste et intuitive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914400" y="312984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AVANTAGES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914400" y="3606962"/>
            <a:ext cx="34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✓ Simplicité de lecture</a:t>
            </a:r>
            <a:b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✓ Parsing natif en JavaScript</a:t>
            </a:r>
            <a:b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✓ Taille de fichier réduite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754880" y="3108960"/>
            <a:ext cx="3474720" cy="1097280"/>
          </a:xfrm>
          <a:prstGeom prst="rect">
            <a:avLst/>
          </a:prstGeom>
          <a:solidFill>
            <a:srgbClr val="FEF3C7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937760" y="32004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⚠️ LIMITATION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937760" y="35661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100"/>
              <a:buFont typeface="Calibri"/>
              <a:buNone/>
            </a:pPr>
            <a:r>
              <a:rPr b="0" i="0" lang="en-US" sz="9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Absence de validation native stricte (contrairement à XSD)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CHAPITRE III : YAML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914400" y="1176718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YAML (YAML Ain't Markup Language)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914400" y="1641837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PHILOSOPHIE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914400" y="2084158"/>
            <a:ext cx="7132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Format conçu pour la lisibilité humaine maximale</a:t>
            </a:r>
            <a:b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Standard de configuration moderne (Docker, CI/CD, Kubernetes)</a:t>
            </a:r>
            <a:b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Syntaxe minimale sans balises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914400" y="3033358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AVANTAGES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914400" y="356616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✓ Excellente lisibilité</a:t>
            </a:r>
            <a:b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✓ Peu verbeux</a:t>
            </a:r>
            <a:b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✓ Support des commentaires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389120" y="32004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389120" y="356616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⚠️ Sensible à l'indentation</a:t>
            </a:r>
            <a:b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⚠️ Moins adapté aux structures complexes</a:t>
            </a:r>
            <a:b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⚠️ Parsing plus lent que JSON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CHAPITRE IV : COMPARAISON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" name="Google Shape;93;p6"/>
          <p:cNvGraphicFramePr/>
          <p:nvPr/>
        </p:nvGraphicFramePr>
        <p:xfrm>
          <a:off x="73152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{72BD0D79-EFFF-45DF-963F-5350480A860B}</a:tableStyleId>
              </a:tblPr>
              <a:tblGrid>
                <a:gridCol w="2286000"/>
                <a:gridCol w="1645925"/>
                <a:gridCol w="1645925"/>
                <a:gridCol w="1645925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XML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JSON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YAML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</a:rPr>
                        <a:t>Validation stricte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0B981"/>
                          </a:solidFill>
                        </a:rPr>
                        <a:t>✅ DTD/XSD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DC2626"/>
                          </a:solidFill>
                        </a:rPr>
                        <a:t>❌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DC2626"/>
                          </a:solidFill>
                        </a:rPr>
                        <a:t>❌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</a:rPr>
                        <a:t>Lisibilité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Moyenne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Bonne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Excellente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</a:rPr>
                        <a:t>Complexité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Élevée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Faible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Moyenne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</a:rPr>
                        <a:t>Cas d'usage principal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Données critiques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APIs REST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Configuration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p6"/>
          <p:cNvSpPr/>
          <p:nvPr/>
        </p:nvSpPr>
        <p:spPr>
          <a:xfrm>
            <a:off x="1371600" y="3840480"/>
            <a:ext cx="6400800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1371600" y="384048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: Pour notre application académique nécessitant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 stricte → XML est optimal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/>
          <p:nvPr/>
        </p:nvSpPr>
        <p:spPr>
          <a:xfrm>
            <a:off x="457200" y="122157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PRÉSENTATION DE L'APPLICATION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48650" y="731500"/>
            <a:ext cx="3840600" cy="1938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822960" y="779034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822960" y="1430158"/>
            <a:ext cx="3291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📅 Emploi du temps universitaire</a:t>
            </a:r>
            <a:b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📄 Données en XML</a:t>
            </a:r>
            <a:b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🔒 Validation DTD + XSD</a:t>
            </a:r>
            <a:b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🖥️ Interface PHP + HTML + CSS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754880" y="1097280"/>
            <a:ext cx="38404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4754880" y="1097280"/>
            <a:ext cx="73152" cy="32918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5120640" y="12801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FONCTIONNALITÉS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120640" y="1953122"/>
            <a:ext cx="32919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1. Chargement du XML</a:t>
            </a:r>
            <a:b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2. Validation XSD automatique</a:t>
            </a:r>
            <a:b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3. Affichage par jour</a:t>
            </a:r>
            <a:b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4. Gestion des horaires</a:t>
            </a:r>
            <a:b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5. Interface responsive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8650" y="2839724"/>
            <a:ext cx="3840600" cy="1549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822960" y="3064323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822960" y="32918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XML  •  DTD  •  XSD  •  PHP  •  HTML  •  CSS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ARCHITECTURE DU PROJET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548650" y="1097274"/>
            <a:ext cx="3657600" cy="3760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822960" y="12801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STRUCTURE DES FICHIERS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822950" y="1645925"/>
            <a:ext cx="3108900" cy="30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7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projet/</a:t>
            </a:r>
            <a:br>
              <a:rPr b="1" i="0" lang="en-US" sz="7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onsolas"/>
              <a:buNone/>
            </a:pPr>
            <a:r>
              <a:rPr b="0" i="0" lang="en-US" sz="700" u="none" cap="none" strike="noStrike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  <a:t>├─ 📁 data/</a:t>
            </a:r>
            <a:br>
              <a:rPr b="0" i="0" lang="en-US" sz="700" u="none" cap="none" strike="noStrike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onsolas"/>
              <a:buNone/>
            </a:pPr>
            <a:r>
              <a:rPr b="0" i="0" lang="en-US" sz="700" u="none" cap="none" strike="noStrike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  <a:t>│  ├─ emploi.xml</a:t>
            </a:r>
            <a:br>
              <a:rPr b="0" i="0" lang="en-US" sz="700" u="none" cap="none" strike="noStrike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onsolas"/>
              <a:buNone/>
            </a:pPr>
            <a:r>
              <a:rPr b="0" i="0" lang="en-US" sz="700" u="none" cap="none" strike="noStrike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  <a:t>│  ├─ emploi.dtd</a:t>
            </a:r>
            <a:br>
              <a:rPr b="0" i="0" lang="en-US" sz="700" u="none" cap="none" strike="noStrike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onsolas"/>
              <a:buNone/>
            </a:pPr>
            <a:r>
              <a:rPr b="0" i="0" lang="en-US" sz="700" u="none" cap="none" strike="noStrike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  <a:t>│  └─ emploi.xsd</a:t>
            </a:r>
            <a:br>
              <a:rPr b="0" i="0" lang="en-US" sz="700" u="none" cap="none" strike="noStrike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onsolas"/>
              <a:buNone/>
            </a:pPr>
            <a:r>
              <a:rPr b="0" i="0" lang="en-US" sz="700" u="none" cap="none" strike="noStrike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  <a:t>├─ 📁 src/</a:t>
            </a:r>
            <a:br>
              <a:rPr b="0" i="0" lang="en-US" sz="700" u="none" cap="none" strike="noStrike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onsolas"/>
              <a:buNone/>
            </a:pPr>
            <a:r>
              <a:rPr b="0" i="0" lang="en-US" sz="700" u="none" cap="none" strike="noStrike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  <a:t>│  └─ index.php</a:t>
            </a:r>
            <a:endParaRPr b="0" i="0" sz="700" u="none" cap="none" strike="noStrike">
              <a:solidFill>
                <a:srgbClr val="1A202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onsolas"/>
              <a:buNone/>
            </a:pPr>
            <a:r>
              <a:rPr lang="en-US" sz="700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  <a:t>   └─ functions.php</a:t>
            </a:r>
            <a:br>
              <a:rPr b="0" i="0" lang="en-US" sz="700" u="none" cap="none" strike="noStrike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onsolas"/>
              <a:buNone/>
            </a:pPr>
            <a:r>
              <a:rPr b="0" i="0" lang="en-US" sz="700" u="none" cap="none" strike="noStrike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  <a:t>├─ 📁 assets/</a:t>
            </a:r>
            <a:br>
              <a:rPr b="0" i="0" lang="en-US" sz="700" u="none" cap="none" strike="noStrike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onsolas"/>
              <a:buNone/>
            </a:pPr>
            <a:r>
              <a:rPr b="0" i="0" lang="en-US" sz="700" u="none" cap="none" strike="noStrike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  <a:t>│  └─ style.css</a:t>
            </a:r>
            <a:br>
              <a:rPr b="0" i="0" lang="en-US" sz="700" u="none" cap="none" strike="noStrike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onsolas"/>
              <a:buNone/>
            </a:pPr>
            <a:r>
              <a:rPr b="0" i="0" lang="en-US" sz="700" u="none" cap="none" strike="noStrike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  <a:t>└─ 📁 docs/</a:t>
            </a:r>
            <a:endParaRPr b="0" i="0" sz="700" u="none" cap="none" strike="noStrike">
              <a:solidFill>
                <a:srgbClr val="1A202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onsolas"/>
              <a:buNone/>
            </a:pPr>
            <a:r>
              <a:t/>
            </a:r>
            <a:endParaRPr sz="700">
              <a:solidFill>
                <a:srgbClr val="1A202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onsolas"/>
              <a:buNone/>
            </a:pPr>
            <a:r>
              <a:rPr lang="en-US" sz="700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  <a:t>    └─ presentation.pptx</a:t>
            </a:r>
            <a:endParaRPr sz="700">
              <a:solidFill>
                <a:srgbClr val="1A202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onsolas"/>
              <a:buNone/>
            </a:pPr>
            <a:r>
              <a:rPr lang="en-US" sz="700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  <a:t>    └─ rapport.pdf</a:t>
            </a:r>
            <a:endParaRPr sz="700">
              <a:solidFill>
                <a:srgbClr val="1A202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onsolas"/>
              <a:buNone/>
            </a:pPr>
            <a:r>
              <a:t/>
            </a:r>
            <a:endParaRPr sz="700">
              <a:solidFill>
                <a:srgbClr val="1A202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>
                <a:solidFill>
                  <a:srgbClr val="1A202C"/>
                </a:solidFill>
                <a:latin typeface="Consolas"/>
                <a:ea typeface="Consolas"/>
                <a:cs typeface="Consolas"/>
                <a:sym typeface="Consolas"/>
              </a:rPr>
              <a:t>├── README.md</a:t>
            </a:r>
            <a:endParaRPr sz="700">
              <a:solidFill>
                <a:srgbClr val="1A202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rgbClr val="1A202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onsolas"/>
              <a:buNone/>
            </a:pPr>
            <a:r>
              <a:t/>
            </a:r>
            <a:endParaRPr sz="700">
              <a:solidFill>
                <a:srgbClr val="1A202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572000" y="1097280"/>
            <a:ext cx="40233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4846320" y="12801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FLUX DE DONNÉES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5029200" y="1828800"/>
            <a:ext cx="64008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5029200" y="182880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5554918" y="1828800"/>
            <a:ext cx="137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5852149" y="1828800"/>
            <a:ext cx="732000" cy="3657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5852150" y="1828800"/>
            <a:ext cx="73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6537960" y="1828800"/>
            <a:ext cx="137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858000" y="1828800"/>
            <a:ext cx="64008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6858000" y="182880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7397638" y="1828800"/>
            <a:ext cx="137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7680960" y="1828800"/>
            <a:ext cx="64008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7680960" y="182880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572000" y="2651760"/>
            <a:ext cx="4023360" cy="15544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4846320" y="28346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PRINCIPE CLÉ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846320" y="320040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Séparation stricte 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Données ≠ Validation ≠ Logique ≠ Présentation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XML, DTD ET XSD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548640" y="1097280"/>
            <a:ext cx="73152" cy="9144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822960" y="118872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1️⃣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463040" y="1143959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FICHIER XML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1463040" y="1460039"/>
            <a:ext cx="676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• 15 cours sur 5 jours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• Horaires cohérents (8h-18h)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• Données brutes uniquement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548640" y="2286000"/>
            <a:ext cx="73152" cy="914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822960" y="237744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2️⃣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463040" y="2332679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FICHIER DTD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1463040" y="2648759"/>
            <a:ext cx="676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• Structure générale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• Balises et hiérarchie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• Validation de FORME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548640" y="3474720"/>
            <a:ext cx="804672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548640" y="3474720"/>
            <a:ext cx="73152" cy="914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822960" y="356616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3️⃣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463040" y="3535319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SCHÉMA XSD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1463040" y="3844440"/>
            <a:ext cx="676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• Types stricts (xs:time, xs:ID)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• Contraintes de valeurs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• Validation de CONTENU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1828800" y="4572000"/>
            <a:ext cx="5486400" cy="457200"/>
          </a:xfrm>
          <a:prstGeom prst="rect">
            <a:avLst/>
          </a:prstGeom>
          <a:solidFill>
            <a:srgbClr val="FEE2E2"/>
          </a:solidFill>
          <a:ln cap="flat" cmpd="sng" w="254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2011680" y="457200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⚠️ RÈGLE : Toute erreur bloque l'application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PHP : LOGIQUE APPLICATIVE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48640" y="1097280"/>
            <a:ext cx="804672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822960" y="1280160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PIPELINE DE TRAITEMENT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822960" y="1737360"/>
            <a:ext cx="7498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. Chargement XML  →  </a:t>
            </a:r>
            <a:r>
              <a:rPr b="1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. Validation XSD  →  </a:t>
            </a:r>
            <a:r>
              <a:rPr b="1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. Extraction données  →  </a:t>
            </a:r>
            <a:r>
              <a:rPr b="1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. Transformation  →  </a:t>
            </a:r>
            <a:r>
              <a:rPr b="1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. Génération HTML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548640" y="2926080"/>
            <a:ext cx="384048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822960" y="31089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CHOIX TECHNIQUE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822960" y="34747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❌ XSLT non utilisé</a:t>
            </a:r>
            <a:br>
              <a:rPr b="0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Transformation en PHP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4754880" y="2926080"/>
            <a:ext cx="3840480" cy="1463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5029200" y="3025439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5029200" y="34747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Plus lisible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Conforme au cours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Meilleur contrôle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/>
          <p:nvPr/>
        </p:nvSpPr>
        <p:spPr>
          <a:xfrm>
            <a:off x="457200" y="247439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RÉSULTAT FINAL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548650" y="800399"/>
            <a:ext cx="3840600" cy="208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822960" y="869515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LIVRABLE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822960" y="16459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✅ Application fonctionnelle</a:t>
            </a:r>
            <a:b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✅ Validation automatique</a:t>
            </a:r>
            <a:b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✅ Architecture professionnelle</a:t>
            </a:r>
            <a:b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✅ Déploiement local réussi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4754880" y="1097280"/>
            <a:ext cx="3840480" cy="3291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5029200" y="1274159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TECHNOLOGIES MAÎTRISÉES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5120640" y="182880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🔷 XML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5394960" y="20574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 des données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5120640" y="233172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🔷 DTD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5394960" y="256032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Définition de type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5120640" y="283464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🔷 XSD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5394960" y="306324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 stricte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120640" y="333756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🔷 PHP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5394960" y="356616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Logique métier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5120640" y="384048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🔷 HTML/CSS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394960" y="406908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Interface utilisateur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548628" y="3040370"/>
            <a:ext cx="3840600" cy="1828800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127000" rotWithShape="0" algn="bl" dir="8100000" dist="508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pic>
        <p:nvPicPr>
          <p:cNvPr descr="preencoded.png" id="197" name="Google Shape;1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0" y="324528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/>
          <p:cNvSpPr/>
          <p:nvPr/>
        </p:nvSpPr>
        <p:spPr>
          <a:xfrm>
            <a:off x="822960" y="4258085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PROJET VALIDÉ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640080" y="1188720"/>
            <a:ext cx="374904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914400" y="1301999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CONSTATS TECHNIQUES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914400" y="1737360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✓ XML pour données critiques</a:t>
            </a:r>
            <a:b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✓ DTD/XSD garantissent l'intégrité</a:t>
            </a:r>
            <a:b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✓ PHP pour exploitation contrôlée</a:t>
            </a:r>
            <a:b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✓ Séparation des responsabilités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4754880" y="1188720"/>
            <a:ext cx="374904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5029200" y="1308959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OBJECTIFS ATTEINTS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5029200" y="1737360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📌 Compréhension approfondie</a:t>
            </a:r>
            <a:b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📌 Maîtrise pratique XML/PHP</a:t>
            </a:r>
            <a:b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📌 Application fonctionnelle</a:t>
            </a:r>
            <a:b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📌 Respect des exigences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640080" y="3200400"/>
            <a:ext cx="7863840" cy="8229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457200" y="339287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MERCI POUR VOTRE ATTENTION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457200" y="4427756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 ?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2026-02-09T17:07:29Z</dcterms:created>
  <dc:creator>Abdoulaye Guene &amp; Aissatou Billy Sall</dc:creator>
</cp:coreProperties>
</file>